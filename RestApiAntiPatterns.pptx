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0" r:id="rId5"/>
    <p:sldId id="268" r:id="rId6"/>
    <p:sldId id="264" r:id="rId7"/>
    <p:sldId id="269" r:id="rId8"/>
    <p:sldId id="261" r:id="rId9"/>
    <p:sldId id="271" r:id="rId10"/>
    <p:sldId id="270" r:id="rId11"/>
    <p:sldId id="275" r:id="rId12"/>
    <p:sldId id="272" r:id="rId13"/>
    <p:sldId id="273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783BA2-78BD-40AD-8D6A-838EFC3680FB}">
          <p14:sldIdLst>
            <p14:sldId id="256"/>
            <p14:sldId id="257"/>
            <p14:sldId id="258"/>
            <p14:sldId id="260"/>
            <p14:sldId id="268"/>
            <p14:sldId id="264"/>
            <p14:sldId id="269"/>
            <p14:sldId id="261"/>
            <p14:sldId id="271"/>
            <p14:sldId id="270"/>
            <p14:sldId id="275"/>
            <p14:sldId id="272"/>
            <p14:sldId id="273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27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68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7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44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232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9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56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63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95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2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51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47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16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58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35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97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40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2459075-472F-4693-9243-E28AE87CBAF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A405937-C02B-493B-BA3C-F9413AB47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18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nSKp2StlS6s?feature=oembed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5A81-C49D-D8D4-F285-B2A312CC44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REST API Anti-patterns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22543-F7AA-067F-540F-1A49088CCE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Wekoslav Stefanovski</a:t>
            </a:r>
          </a:p>
          <a:p>
            <a:r>
              <a:rPr lang="en-US" sz="2400" dirty="0"/>
              <a:t>@swekster</a:t>
            </a:r>
          </a:p>
          <a:p>
            <a:r>
              <a:rPr lang="en-US" sz="2400" dirty="0"/>
              <a:t>https://github.com/sweko/wad-rest-api-antipatterns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676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8616-29FA-4AF9-ED0D-1C020643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&gt;</a:t>
            </a:r>
            <a:r>
              <a:rPr lang="en-US" dirty="0" err="1">
                <a:ea typeface="+mj-lt"/>
                <a:cs typeface="+mj-lt"/>
              </a:rPr>
              <a:t>whoami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1B75D-8984-3B3A-9703-D6E7FB126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>
                <a:solidFill>
                  <a:srgbClr val="3F3F51"/>
                </a:solidFill>
                <a:ea typeface="+mn-lt"/>
                <a:cs typeface="+mn-lt"/>
              </a:rPr>
              <a:t>Head of Development in </a:t>
            </a:r>
            <a:r>
              <a:rPr lang="en-US" b="1" dirty="0" err="1">
                <a:solidFill>
                  <a:srgbClr val="3F3F51"/>
                </a:solidFill>
                <a:ea typeface="+mn-lt"/>
                <a:cs typeface="+mn-lt"/>
              </a:rPr>
              <a:t>Sourcico</a:t>
            </a:r>
            <a:r>
              <a:rPr lang="en-US" b="1" dirty="0">
                <a:solidFill>
                  <a:srgbClr val="3F3F51"/>
                </a:solidFill>
                <a:ea typeface="+mn-lt"/>
                <a:cs typeface="+mn-lt"/>
              </a:rPr>
              <a:t> Macedonia</a:t>
            </a:r>
            <a:endParaRPr lang="en-US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>
                <a:solidFill>
                  <a:srgbClr val="3F3F51"/>
                </a:solidFill>
                <a:ea typeface="+mn-lt"/>
                <a:cs typeface="+mn-lt"/>
              </a:rPr>
              <a:t>Coding professionally since last century</a:t>
            </a:r>
            <a:endParaRPr lang="en-US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>
                <a:solidFill>
                  <a:srgbClr val="3F3F51"/>
                </a:solidFill>
                <a:ea typeface="+mn-lt"/>
                <a:cs typeface="+mn-lt"/>
              </a:rPr>
              <a:t>I love programming, I love programmers</a:t>
            </a:r>
            <a:endParaRPr lang="mk-MK" b="1" dirty="0">
              <a:solidFill>
                <a:srgbClr val="3F3F51"/>
              </a:solidFill>
              <a:ea typeface="+mn-lt"/>
              <a:cs typeface="+mn-lt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>
                <a:solidFill>
                  <a:srgbClr val="3F3F51"/>
                </a:solidFill>
                <a:ea typeface="+mn-lt"/>
                <a:cs typeface="+mn-lt"/>
              </a:rPr>
              <a:t>Building API’s since early 2000’s</a:t>
            </a:r>
            <a:endParaRPr lang="en-US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>
                <a:solidFill>
                  <a:srgbClr val="3F3F51"/>
                </a:solidFill>
                <a:ea typeface="+mn-lt"/>
                <a:cs typeface="+mn-lt"/>
              </a:rPr>
              <a:t>Long and fruitful love relationship with C#</a:t>
            </a:r>
            <a:endParaRPr lang="en-US" b="1" dirty="0">
              <a:ea typeface="+mn-lt"/>
              <a:cs typeface="+mn-lt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b="1" dirty="0">
                <a:solidFill>
                  <a:srgbClr val="3F3F51"/>
                </a:solidFill>
                <a:ea typeface="+mn-lt"/>
                <a:cs typeface="+mn-lt"/>
              </a:rPr>
              <a:t>Long and fruitful love / hate relationship with JavaScript</a:t>
            </a:r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5B680-FC64-7228-8F1B-6C49F594EF1C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302986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8616-29FA-4AF9-ED0D-1C0206439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agenda()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1B75D-8984-3B3A-9703-D6E7FB126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400" b="1" dirty="0">
                <a:solidFill>
                  <a:srgbClr val="3F3F51"/>
                </a:solidFill>
                <a:ea typeface="+mn-lt"/>
                <a:cs typeface="+mn-lt"/>
              </a:rPr>
              <a:t>What is a REST API and why do we need it?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400" b="1" dirty="0">
                <a:solidFill>
                  <a:srgbClr val="3F3F51"/>
                </a:solidFill>
                <a:ea typeface="+mn-lt"/>
                <a:cs typeface="+mn-lt"/>
              </a:rPr>
              <a:t>What is an anti-pattern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400" b="1" dirty="0">
                <a:solidFill>
                  <a:srgbClr val="3F3F51"/>
                </a:solidFill>
                <a:ea typeface="+mn-lt"/>
                <a:cs typeface="+mn-lt"/>
              </a:rPr>
              <a:t>REST API Design Errors (not anti-patterns)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400" b="1" dirty="0">
                <a:solidFill>
                  <a:srgbClr val="3F3F51"/>
                </a:solidFill>
                <a:ea typeface="+mn-lt"/>
                <a:cs typeface="+mn-lt"/>
              </a:rPr>
              <a:t>REST API Anti-patterns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en-US" sz="2400" b="1" dirty="0">
              <a:solidFill>
                <a:srgbClr val="3F3F51"/>
              </a:solidFill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217EF-CB98-835F-6A04-13FACC68A36F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1960518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88BA-BBCB-ABEB-9D3D-B58A0F6E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REST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2F82B-0D08-1D7C-3CCF-9537404C0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41260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Re</a:t>
            </a:r>
            <a:r>
              <a:rPr lang="en-US" sz="2000" b="1" dirty="0">
                <a:solidFill>
                  <a:srgbClr val="3F3F51"/>
                </a:solidFill>
                <a:ea typeface="+mn-lt"/>
                <a:cs typeface="+mn-lt"/>
              </a:rPr>
              <a:t>presentational </a:t>
            </a: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S</a:t>
            </a:r>
            <a:r>
              <a:rPr lang="en-US" sz="2000" b="1" dirty="0">
                <a:solidFill>
                  <a:srgbClr val="3F3F51"/>
                </a:solidFill>
                <a:ea typeface="+mn-lt"/>
                <a:cs typeface="+mn-lt"/>
              </a:rPr>
              <a:t>tate </a:t>
            </a: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T</a:t>
            </a:r>
            <a:r>
              <a:rPr lang="en-US" sz="2000" b="1" dirty="0">
                <a:solidFill>
                  <a:srgbClr val="3F3F51"/>
                </a:solidFill>
                <a:ea typeface="+mn-lt"/>
                <a:cs typeface="+mn-lt"/>
              </a:rPr>
              <a:t>ransfer - An architectural style for designing networked applications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F3F51"/>
                </a:solidFill>
                <a:ea typeface="+mn-lt"/>
                <a:cs typeface="+mn-lt"/>
              </a:rPr>
              <a:t>Uses HTTP methods (GET, POST, PUT, DELETE) for operations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F3F51"/>
                </a:solidFill>
                <a:ea typeface="+mn-lt"/>
                <a:cs typeface="+mn-lt"/>
              </a:rPr>
              <a:t>Stateless: each request contains all necessary information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F3F51"/>
                </a:solidFill>
                <a:ea typeface="+mn-lt"/>
                <a:cs typeface="+mn-lt"/>
              </a:rPr>
              <a:t>Resources identified by URLs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F3F51"/>
                </a:solidFill>
                <a:ea typeface="+mn-lt"/>
                <a:cs typeface="+mn-lt"/>
              </a:rPr>
              <a:t>Data typically exchanged in JSON or XML format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70C97-C715-E804-6E98-92D6B6428BEE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3565785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3D70E-771A-4DD9-F932-BD30F4AE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9F58-8F24-69BE-ADEE-874ABED1C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use REST API’s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6711D-E1C3-822B-CB67-93F6F8617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41260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Backend / Frontend communication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Stateless backends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Agnostic frontends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Third party integrations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The bridge between the UI and the server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AD3A6-DE7B-5A57-5ABA-C286A8A5F014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269714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88BA-BBCB-ABEB-9D3D-B58A0F6E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anti-pattern?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41270C-8193-4F66-2507-762F92698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00039" cy="391832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Response to a recurring problem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A common and wrong solution to a problem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Seems like a good idea, but backfires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“Lessons learned" in software engineering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Anti-patterns are not universal!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Anti-patterns are not errors!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4FDAE3-2AE3-05B8-3CCB-114E8B0D9509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20017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EFF29-9E1D-C22C-E3B9-9B3369227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741C-573B-7400-7B43-5B8932C77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favorite software anti-patterns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ED0808-7504-77A1-5B0E-E69B0723E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00039" cy="3416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Analysis Paralysis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Golden Hammer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Reinventing the (square) wheel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Lasagna Code / Ravioli Code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Mushroom / Seagull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3B8F1F-6188-7859-E0BE-2594B0570422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418124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5A81-C49D-D8D4-F285-B2A312CC4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746" y="1868565"/>
            <a:ext cx="8825658" cy="2677648"/>
          </a:xfrm>
        </p:spPr>
        <p:txBody>
          <a:bodyPr/>
          <a:lstStyle/>
          <a:p>
            <a:pPr algn="ctr"/>
            <a:r>
              <a:rPr lang="en-US" b="1" dirty="0"/>
              <a:t>Going Back to APIs</a:t>
            </a:r>
            <a:br>
              <a:rPr lang="en-US" b="1" dirty="0"/>
            </a:br>
            <a:br>
              <a:rPr lang="en-US" b="1" dirty="0"/>
            </a:br>
            <a:r>
              <a:rPr lang="en-US" sz="3200" b="1" dirty="0"/>
              <a:t>(everything is my opinion)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90487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C3B5B-396F-7668-1616-7EB48F5D5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EB5901-ABFD-9FBA-DA44-C2E123E21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387" y="482336"/>
            <a:ext cx="7019365" cy="586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13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96FEE-9A56-63F3-5B2E-5E31DA441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83E3-045C-E47A-FA79-B8B1E08F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API Errors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1BF3D3-27C4-7A54-94D1-EBF323185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00039" cy="35687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Ignoring HTTP Methods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Misusing Status Codes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Inconsistent Naming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Ignoring Data Volume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No Documentation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DE170C-8195-DF8A-32D2-208A4D04E1AA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1133912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32E8D-C26A-ED71-B4E1-D5E713DB9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F7663-AE75-34B8-5AC5-3D1A0E011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5193" y="1693753"/>
            <a:ext cx="8825658" cy="2677648"/>
          </a:xfrm>
        </p:spPr>
        <p:txBody>
          <a:bodyPr/>
          <a:lstStyle/>
          <a:p>
            <a:pPr algn="ctr"/>
            <a:r>
              <a:rPr lang="en-US" b="1" dirty="0"/>
              <a:t>The biggest API Error:</a:t>
            </a:r>
            <a:br>
              <a:rPr lang="en-US" b="1" dirty="0"/>
            </a:br>
            <a:br>
              <a:rPr lang="en-US" b="1" dirty="0"/>
            </a:br>
            <a:r>
              <a:rPr lang="en-US" sz="7200" b="1" dirty="0">
                <a:latin typeface="Agency FB" panose="020B0503020202020204" pitchFamily="34" charset="0"/>
              </a:rPr>
              <a:t>I</a:t>
            </a:r>
            <a:r>
              <a:rPr lang="en-US" sz="7200" b="1" dirty="0">
                <a:latin typeface="Bauhaus 93" panose="04030905020B02020C02" pitchFamily="82" charset="0"/>
              </a:rPr>
              <a:t>N</a:t>
            </a:r>
            <a:r>
              <a:rPr lang="en-US" sz="7200" b="1" dirty="0">
                <a:latin typeface="Baskerville Old Face" panose="02020602080505020303" pitchFamily="18" charset="0"/>
              </a:rPr>
              <a:t>C</a:t>
            </a:r>
            <a:r>
              <a:rPr lang="en-US" sz="7200" b="1" dirty="0">
                <a:latin typeface="Bodoni MT Black" panose="02070A03080606020203" pitchFamily="18" charset="0"/>
              </a:rPr>
              <a:t>O</a:t>
            </a:r>
            <a:r>
              <a:rPr lang="en-US" sz="7200" b="1" dirty="0">
                <a:latin typeface="Comic Sans MS" panose="030F0702030302020204" pitchFamily="66" charset="0"/>
              </a:rPr>
              <a:t>N</a:t>
            </a:r>
            <a:r>
              <a:rPr lang="en-US" sz="7200" b="1" dirty="0">
                <a:latin typeface="Castellar" panose="020A0402060406010301" pitchFamily="18" charset="0"/>
              </a:rPr>
              <a:t>S</a:t>
            </a:r>
            <a:r>
              <a:rPr lang="en-US" sz="7200" b="1" dirty="0">
                <a:latin typeface="Elephant" panose="02020904090505020303" pitchFamily="18" charset="0"/>
              </a:rPr>
              <a:t>I</a:t>
            </a:r>
            <a:r>
              <a:rPr lang="en-US" sz="7200" b="1" dirty="0">
                <a:latin typeface="Forte" panose="03060902040502070203" pitchFamily="66" charset="0"/>
              </a:rPr>
              <a:t>S</a:t>
            </a:r>
            <a:r>
              <a:rPr lang="en-US" sz="7200" b="1" dirty="0">
                <a:latin typeface="French Script MT" panose="03020402040607040605" pitchFamily="66" charset="0"/>
              </a:rPr>
              <a:t>T</a:t>
            </a:r>
            <a:r>
              <a:rPr lang="en-US" sz="7200" b="1" dirty="0">
                <a:latin typeface="Goudy Stout" panose="0202090407030B020401" pitchFamily="18" charset="0"/>
              </a:rPr>
              <a:t>E</a:t>
            </a:r>
            <a:r>
              <a:rPr lang="en-US" sz="7200" b="1" dirty="0">
                <a:latin typeface="Algerian" panose="04020705040A02060702" pitchFamily="82" charset="0"/>
              </a:rPr>
              <a:t>N</a:t>
            </a:r>
            <a:r>
              <a:rPr lang="en-US" sz="7200" b="1" dirty="0">
                <a:latin typeface="Matura MT Script Capitals" panose="03020802060602070202" pitchFamily="66" charset="0"/>
              </a:rPr>
              <a:t>C</a:t>
            </a:r>
            <a:r>
              <a:rPr lang="en-US" sz="7200" b="1" dirty="0">
                <a:latin typeface="Javanese Text" panose="02000000000000000000" pitchFamily="2" charset="0"/>
              </a:rPr>
              <a:t>Y</a:t>
            </a:r>
            <a:r>
              <a:rPr lang="en-US" sz="7200" b="1" dirty="0"/>
              <a:t>!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650706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858A2-D24E-44E6-739C-8198E5579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You Give REST a Bad Name">
            <a:hlinkClick r:id="" action="ppaction://media"/>
            <a:extLst>
              <a:ext uri="{FF2B5EF4-FFF2-40B4-BE49-F238E27FC236}">
                <a16:creationId xmlns:a16="http://schemas.microsoft.com/office/drawing/2014/main" id="{1F2C84ED-72D1-7022-2A79-40EABB592A0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16000" y="558800"/>
            <a:ext cx="101600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07DB-923B-1FAF-9A0D-015B62BB4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7690-1B05-FAF7-0975-617BA810E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API Anti-Patterns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63BF1E-7849-74FA-149A-D3165FC70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00039" cy="397211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The Chatty Cathy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The Kitchen Sink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Frontend Fusion Fallacy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The CRUD obsession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The Russian Doll Scheme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The Sticky Server Situation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The Header Neglect Defect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D914A-CC3C-C397-0F02-CCC0AF1F5F17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327174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8A551-2011-3A48-5520-75640DE2E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980D1-5073-9906-4E8E-B0516628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Chatty Cathy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3E96AB-F840-C6CA-CD8F-9B11B6650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00039" cy="39721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Numerous fine-grained endpoints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Multiple requests for a single use-case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Increased network / server load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Versioning headaches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6B04A-B58F-DE31-54CE-9D525452763D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3706820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E3F0-2CD8-0500-EB43-BC0A6F6F6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6684E-34B3-8A7C-7E9F-16EEFFFD1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Kitchen Sink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5167C9-4FC5-2780-DDBB-1E23F37EF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00039" cy="39721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Complete resource representation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One-size-fits-all approach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Performance impact on server </a:t>
            </a:r>
            <a:r>
              <a:rPr lang="en-US" sz="2800" b="1" i="1" dirty="0">
                <a:solidFill>
                  <a:srgbClr val="3F3F51"/>
                </a:solidFill>
                <a:ea typeface="+mn-lt"/>
                <a:cs typeface="+mn-lt"/>
              </a:rPr>
              <a:t>and</a:t>
            </a: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 client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Easy to overexpose data</a:t>
            </a:r>
          </a:p>
          <a:p>
            <a:pPr>
              <a:lnSpc>
                <a:spcPct val="150000"/>
              </a:lnSpc>
            </a:pPr>
            <a:endParaRPr lang="en-US" sz="2800" b="1" dirty="0">
              <a:solidFill>
                <a:srgbClr val="3F3F51"/>
              </a:solidFill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BF9DF8-5647-4428-CABF-4C4B8CFB8BB0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2528917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B57F7-B96A-F3AA-B1F2-9BDAB7B5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57F22-E6C6-CE6A-32C3-66427C8C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 Fusion Fallacy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97F59-233B-E14D-3698-8530AC50D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00039" cy="39721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Mapping the API according to frontend needs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Mixing data in the response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One call for one page (state)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Unusable by other clients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9E89C3-49A3-3352-2647-9BEB86E6DBA3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2123536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7FAA7-9FA8-A0E4-41E0-0B2871985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84ADB-98FE-51B4-D212-A09000F6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CRUD Obsession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D5CED3-AEF5-7670-4706-02F231B97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00039" cy="39721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Each domain object has its own endpoints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Frontend level orchestration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Tied to the database structure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Versioning problems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2C1E65-ECC9-2D84-0D94-B27C03B8FD8A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224719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5C550-E71A-DC07-4D7D-BA6236D4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0A87-15C2-7BC1-2E45-3FD0DE8F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Russian Doll Scheme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C18159-79AF-634E-5653-22A6CC882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00039" cy="39721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Overly complex URL structures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Looks like a language-in-language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Too much parent-child relationships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Ownership issues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7B50F-0BF2-D542-9E14-FDDE9597F567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3101398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83D9-CD82-F854-F1F0-9BA7A41E4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8E356-BBFD-B15B-0E41-C80E5B7B8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Sticky Server Situation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388A53-8E62-420A-CE91-6A8209C0C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00039" cy="39721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Saving temporary session state on the backend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Loss of idempotency even for GET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Server orchestrates frontend</a:t>
            </a:r>
          </a:p>
          <a:p>
            <a:pPr>
              <a:lnSpc>
                <a:spcPct val="150000"/>
              </a:lnSpc>
            </a:pPr>
            <a:endParaRPr lang="en-US" sz="2800" b="1" dirty="0">
              <a:solidFill>
                <a:srgbClr val="3F3F51"/>
              </a:solidFill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014EB-66DE-A6C6-12B2-AE86C17708BF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1363942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A4723-8DD3-AE3A-9E9A-43915F355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2BC24-A2FF-F68E-F703-00B936DB7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Header Neglect Defect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317A43-8FB0-2652-1620-F3294770C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00039" cy="39721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Not treating headers as part of the request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Not using version headers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Not using content-type headers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Not using content policy headers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Not using custom headers</a:t>
            </a:r>
          </a:p>
          <a:p>
            <a:pPr>
              <a:lnSpc>
                <a:spcPct val="150000"/>
              </a:lnSpc>
            </a:pPr>
            <a:endParaRPr lang="en-US" sz="2800" b="1" dirty="0">
              <a:solidFill>
                <a:srgbClr val="3F3F51"/>
              </a:solidFill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D3380-EA33-7A4A-2334-16C61F407D7A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3352802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61323-3D18-7B34-5CB5-C5A28D4D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1094-29B1-8F34-BC10-908BD1E8E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6F1DC4-825B-D607-7507-349C49B2A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75392" cy="39721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Think about what you do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Have (at least a vision of) a referent usage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Write (or even generate) the docs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There is no silver bullet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3F3F51"/>
                </a:solidFill>
                <a:ea typeface="+mn-lt"/>
                <a:cs typeface="+mn-lt"/>
              </a:rPr>
              <a:t>You will fail, but use that as a checklist for the next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2B7F2-7672-80D4-1B0F-AA495439A2CC}"/>
              </a:ext>
            </a:extLst>
          </p:cNvPr>
          <p:cNvSpPr txBox="1"/>
          <p:nvPr/>
        </p:nvSpPr>
        <p:spPr>
          <a:xfrm>
            <a:off x="10548991" y="6334137"/>
            <a:ext cx="1370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@swekster</a:t>
            </a:r>
          </a:p>
        </p:txBody>
      </p:sp>
    </p:spTree>
    <p:extLst>
      <p:ext uri="{BB962C8B-B14F-4D97-AF65-F5344CB8AC3E}">
        <p14:creationId xmlns:p14="http://schemas.microsoft.com/office/powerpoint/2010/main" val="1687383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B8A0B-F3B0-6917-D3D9-D9290D6F8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591B-5B10-92CF-9EFF-C2C11ECAA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5193" y="1693752"/>
            <a:ext cx="8825658" cy="3946759"/>
          </a:xfrm>
        </p:spPr>
        <p:txBody>
          <a:bodyPr/>
          <a:lstStyle/>
          <a:p>
            <a:pPr algn="ctr"/>
            <a:r>
              <a:rPr lang="en-US" b="1" dirty="0"/>
              <a:t>Questions?</a:t>
            </a:r>
            <a:br>
              <a:rPr lang="en-US" b="1" dirty="0"/>
            </a:br>
            <a:r>
              <a:rPr lang="en-US" b="1" dirty="0"/>
              <a:t>Comments?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@swekster</a:t>
            </a:r>
            <a:br>
              <a:rPr lang="en-US" b="1" dirty="0"/>
            </a:br>
            <a:r>
              <a:rPr lang="en-US" b="1" dirty="0"/>
              <a:t>swekster@gmail.com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6303329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5500</TotalTime>
  <Words>537</Words>
  <Application>Microsoft Office PowerPoint</Application>
  <PresentationFormat>Widescreen</PresentationFormat>
  <Paragraphs>115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9" baseType="lpstr">
      <vt:lpstr>Agency FB</vt:lpstr>
      <vt:lpstr>Algerian</vt:lpstr>
      <vt:lpstr>Arial</vt:lpstr>
      <vt:lpstr>Baskerville Old Face</vt:lpstr>
      <vt:lpstr>Bauhaus 93</vt:lpstr>
      <vt:lpstr>Bodoni MT Black</vt:lpstr>
      <vt:lpstr>Castellar</vt:lpstr>
      <vt:lpstr>Century Gothic</vt:lpstr>
      <vt:lpstr>Comic Sans MS</vt:lpstr>
      <vt:lpstr>Elephant</vt:lpstr>
      <vt:lpstr>Forte</vt:lpstr>
      <vt:lpstr>French Script MT</vt:lpstr>
      <vt:lpstr>Goudy Stout</vt:lpstr>
      <vt:lpstr>Javanese Text</vt:lpstr>
      <vt:lpstr>Matura MT Script Capitals</vt:lpstr>
      <vt:lpstr>Wingdings 3</vt:lpstr>
      <vt:lpstr>Ion Boardroom</vt:lpstr>
      <vt:lpstr>REST API Anti-patterns </vt:lpstr>
      <vt:lpstr>&gt;whoami</vt:lpstr>
      <vt:lpstr>agenda()</vt:lpstr>
      <vt:lpstr>What is a REST API?</vt:lpstr>
      <vt:lpstr>How do we use REST API’s</vt:lpstr>
      <vt:lpstr>What is an anti-pattern?</vt:lpstr>
      <vt:lpstr>My favorite software anti-patterns</vt:lpstr>
      <vt:lpstr>Going Back to APIs  (everything is my opinion)</vt:lpstr>
      <vt:lpstr>PowerPoint Presentation</vt:lpstr>
      <vt:lpstr>REST API Errors</vt:lpstr>
      <vt:lpstr>The biggest API Error:  INCONSISTENCY!</vt:lpstr>
      <vt:lpstr>PowerPoint Presentation</vt:lpstr>
      <vt:lpstr>So, API Anti-Patterns</vt:lpstr>
      <vt:lpstr>The Chatty Cathy</vt:lpstr>
      <vt:lpstr>The Kitchen Sink</vt:lpstr>
      <vt:lpstr>Frontend Fusion Fallacy</vt:lpstr>
      <vt:lpstr>The CRUD Obsession</vt:lpstr>
      <vt:lpstr>The Russian Doll Scheme</vt:lpstr>
      <vt:lpstr>The Sticky Server Situation</vt:lpstr>
      <vt:lpstr>The Header Neglect Defect</vt:lpstr>
      <vt:lpstr>Conclusion</vt:lpstr>
      <vt:lpstr>Questions? Comments?  @swekster swekster@gmail.com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Wekoslav Stefanovski</dc:creator>
  <cp:lastModifiedBy>Wekoslav Stefanovski</cp:lastModifiedBy>
  <cp:revision>4</cp:revision>
  <dcterms:created xsi:type="dcterms:W3CDTF">2024-06-30T17:42:08Z</dcterms:created>
  <dcterms:modified xsi:type="dcterms:W3CDTF">2026-07-10T10:02:46Z</dcterms:modified>
</cp:coreProperties>
</file>